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E2B3C9-E5C4-4404-8515-E7C374567E51}" v="1" dt="2026-05-31T05:07:21.308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EC792B"/>
              </a:solidFill>
              <a:prstDash val="solid"/>
              <a:round/>
            </a:ln>
          </a:left>
          <a:right>
            <a:ln w="9525" cap="flat">
              <a:solidFill>
                <a:srgbClr val="EC792B"/>
              </a:solidFill>
              <a:prstDash val="solid"/>
              <a:round/>
            </a:ln>
          </a:right>
          <a:top>
            <a:ln w="9525" cap="flat">
              <a:solidFill>
                <a:srgbClr val="EC792B"/>
              </a:solidFill>
              <a:prstDash val="solid"/>
              <a:round/>
            </a:ln>
          </a:top>
          <a:bottom>
            <a:ln w="9525" cap="flat">
              <a:solidFill>
                <a:srgbClr val="EC792B"/>
              </a:solidFill>
              <a:prstDash val="solid"/>
              <a:round/>
            </a:ln>
          </a:bottom>
          <a:insideH>
            <a:ln w="9525" cap="flat">
              <a:solidFill>
                <a:srgbClr val="EC792B"/>
              </a:solidFill>
              <a:prstDash val="solid"/>
              <a:round/>
            </a:ln>
          </a:insideH>
          <a:insideV>
            <a:ln w="9525" cap="flat">
              <a:solidFill>
                <a:srgbClr val="EC792B"/>
              </a:solidFill>
              <a:prstDash val="solid"/>
              <a:round/>
            </a:ln>
          </a:insideV>
        </a:tcBdr>
        <a:fill>
          <a:solidFill>
            <a:schemeClr val="accent2">
              <a:alpha val="4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EC792B"/>
              </a:solidFill>
              <a:prstDash val="solid"/>
              <a:round/>
            </a:ln>
          </a:left>
          <a:right>
            <a:ln w="25400" cap="flat">
              <a:solidFill>
                <a:schemeClr val="accent2"/>
              </a:solidFill>
              <a:prstDash val="solid"/>
              <a:round/>
            </a:ln>
          </a:right>
          <a:top>
            <a:ln w="9525" cap="flat">
              <a:solidFill>
                <a:srgbClr val="EC792B"/>
              </a:solidFill>
              <a:prstDash val="solid"/>
              <a:round/>
            </a:ln>
          </a:top>
          <a:bottom>
            <a:ln w="9525" cap="flat">
              <a:solidFill>
                <a:srgbClr val="EC792B"/>
              </a:solidFill>
              <a:prstDash val="solid"/>
              <a:round/>
            </a:ln>
          </a:bottom>
          <a:insideH>
            <a:ln w="9525" cap="flat">
              <a:solidFill>
                <a:srgbClr val="EC792B"/>
              </a:solidFill>
              <a:prstDash val="solid"/>
              <a:round/>
            </a:ln>
          </a:insideH>
          <a:insideV>
            <a:ln w="9525" cap="flat">
              <a:solidFill>
                <a:srgbClr val="EC792B"/>
              </a:solidFill>
              <a:prstDash val="solid"/>
              <a:round/>
            </a:ln>
          </a:insideV>
        </a:tcBdr>
        <a:fill>
          <a:solidFill>
            <a:schemeClr val="accent2">
              <a:alpha val="40000"/>
            </a:scheme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2"/>
              </a:solidFill>
              <a:prstDash val="solid"/>
              <a:round/>
            </a:ln>
          </a:top>
          <a:bottom>
            <a:ln w="254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9525" cap="flat">
              <a:solidFill>
                <a:srgbClr val="EC792B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3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shita Kulkarni" userId="fba2a1be154fa77e" providerId="LiveId" clId="{B7BC8F2C-3374-4BBC-9B67-58800BE30E72}"/>
    <pc:docChg chg="modSld">
      <pc:chgData name="Rakshita Kulkarni" userId="fba2a1be154fa77e" providerId="LiveId" clId="{B7BC8F2C-3374-4BBC-9B67-58800BE30E72}" dt="2026-05-31T05:08:15.301" v="49" actId="20577"/>
      <pc:docMkLst>
        <pc:docMk/>
      </pc:docMkLst>
      <pc:sldChg chg="modSp mod">
        <pc:chgData name="Rakshita Kulkarni" userId="fba2a1be154fa77e" providerId="LiveId" clId="{B7BC8F2C-3374-4BBC-9B67-58800BE30E72}" dt="2026-05-31T05:08:15.301" v="49" actId="20577"/>
        <pc:sldMkLst>
          <pc:docMk/>
          <pc:sldMk cId="0" sldId="256"/>
        </pc:sldMkLst>
        <pc:spChg chg="mod">
          <ac:chgData name="Rakshita Kulkarni" userId="fba2a1be154fa77e" providerId="LiveId" clId="{B7BC8F2C-3374-4BBC-9B67-58800BE30E72}" dt="2026-05-31T05:07:50.643" v="47" actId="14100"/>
          <ac:spMkLst>
            <pc:docMk/>
            <pc:sldMk cId="0" sldId="256"/>
            <ac:spMk id="118" creationId="{00000000-0000-0000-0000-000000000000}"/>
          </ac:spMkLst>
        </pc:spChg>
        <pc:graphicFrameChg chg="modGraphic">
          <ac:chgData name="Rakshita Kulkarni" userId="fba2a1be154fa77e" providerId="LiveId" clId="{B7BC8F2C-3374-4BBC-9B67-58800BE30E72}" dt="2026-05-31T05:08:15.301" v="49" actId="20577"/>
          <ac:graphicFrameMkLst>
            <pc:docMk/>
            <pc:sldMk cId="0" sldId="256"/>
            <ac:graphicFrameMk id="117" creationId="{00000000-0000-0000-0000-000000000000}"/>
          </ac:graphicFrameMkLst>
        </pc:graphicFrameChg>
      </pc:sldChg>
      <pc:sldChg chg="modSp mod">
        <pc:chgData name="Rakshita Kulkarni" userId="fba2a1be154fa77e" providerId="LiveId" clId="{B7BC8F2C-3374-4BBC-9B67-58800BE30E72}" dt="2026-05-31T05:04:44.642" v="15" actId="255"/>
        <pc:sldMkLst>
          <pc:docMk/>
          <pc:sldMk cId="0" sldId="257"/>
        </pc:sldMkLst>
        <pc:spChg chg="mod">
          <ac:chgData name="Rakshita Kulkarni" userId="fba2a1be154fa77e" providerId="LiveId" clId="{B7BC8F2C-3374-4BBC-9B67-58800BE30E72}" dt="2026-05-31T05:04:44.642" v="15" actId="255"/>
          <ac:spMkLst>
            <pc:docMk/>
            <pc:sldMk cId="0" sldId="257"/>
            <ac:spMk id="123" creationId="{00000000-0000-0000-0000-000000000000}"/>
          </ac:spMkLst>
        </pc:spChg>
      </pc:sldChg>
      <pc:sldChg chg="modSp mod">
        <pc:chgData name="Rakshita Kulkarni" userId="fba2a1be154fa77e" providerId="LiveId" clId="{B7BC8F2C-3374-4BBC-9B67-58800BE30E72}" dt="2026-05-31T05:05:21.176" v="26" actId="255"/>
        <pc:sldMkLst>
          <pc:docMk/>
          <pc:sldMk cId="0" sldId="258"/>
        </pc:sldMkLst>
        <pc:spChg chg="mod">
          <ac:chgData name="Rakshita Kulkarni" userId="fba2a1be154fa77e" providerId="LiveId" clId="{B7BC8F2C-3374-4BBC-9B67-58800BE30E72}" dt="2026-05-31T05:05:05.566" v="25" actId="20577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Rakshita Kulkarni" userId="fba2a1be154fa77e" providerId="LiveId" clId="{B7BC8F2C-3374-4BBC-9B67-58800BE30E72}" dt="2026-05-31T05:05:21.176" v="26" actId="255"/>
          <ac:spMkLst>
            <pc:docMk/>
            <pc:sldMk cId="0" sldId="258"/>
            <ac:spMk id="128" creationId="{00000000-0000-0000-0000-000000000000}"/>
          </ac:spMkLst>
        </pc:spChg>
      </pc:sldChg>
      <pc:sldChg chg="modSp mod">
        <pc:chgData name="Rakshita Kulkarni" userId="fba2a1be154fa77e" providerId="LiveId" clId="{B7BC8F2C-3374-4BBC-9B67-58800BE30E72}" dt="2026-05-31T05:05:36.576" v="34" actId="20577"/>
        <pc:sldMkLst>
          <pc:docMk/>
          <pc:sldMk cId="0" sldId="259"/>
        </pc:sldMkLst>
        <pc:spChg chg="mod">
          <ac:chgData name="Rakshita Kulkarni" userId="fba2a1be154fa77e" providerId="LiveId" clId="{B7BC8F2C-3374-4BBC-9B67-58800BE30E72}" dt="2026-05-31T05:05:36.576" v="34" actId="20577"/>
          <ac:spMkLst>
            <pc:docMk/>
            <pc:sldMk cId="0" sldId="259"/>
            <ac:spMk id="132" creationId="{00000000-0000-0000-0000-000000000000}"/>
          </ac:spMkLst>
        </pc:spChg>
      </pc:sldChg>
      <pc:sldChg chg="modSp mod">
        <pc:chgData name="Rakshita Kulkarni" userId="fba2a1be154fa77e" providerId="LiveId" clId="{B7BC8F2C-3374-4BBC-9B67-58800BE30E72}" dt="2026-05-31T05:05:51.098" v="39" actId="20577"/>
        <pc:sldMkLst>
          <pc:docMk/>
          <pc:sldMk cId="0" sldId="261"/>
        </pc:sldMkLst>
        <pc:spChg chg="mod">
          <ac:chgData name="Rakshita Kulkarni" userId="fba2a1be154fa77e" providerId="LiveId" clId="{B7BC8F2C-3374-4BBC-9B67-58800BE30E72}" dt="2026-05-31T05:05:51.098" v="39" actId="20577"/>
          <ac:spMkLst>
            <pc:docMk/>
            <pc:sldMk cId="0" sldId="261"/>
            <ac:spMk id="14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3" name="Shape 11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406400" indent="-355600" algn="ctr">
              <a:buClrTx/>
              <a:buSzTx/>
              <a:buFontTx/>
              <a:buNone/>
              <a:defRPr sz="2400"/>
            </a:lvl1pPr>
            <a:lvl2pPr marL="406400" indent="127000" algn="ctr">
              <a:buClrTx/>
              <a:buSzTx/>
              <a:buFontTx/>
              <a:buNone/>
              <a:defRPr sz="2400"/>
            </a:lvl2pPr>
            <a:lvl3pPr marL="406400" indent="609600" algn="ctr">
              <a:buClrTx/>
              <a:buSzTx/>
              <a:buFontTx/>
              <a:buNone/>
              <a:defRPr sz="2400"/>
            </a:lvl3pPr>
            <a:lvl4pPr marL="406400" indent="1066800" algn="ctr">
              <a:buClrTx/>
              <a:buSzTx/>
              <a:buFontTx/>
              <a:buNone/>
              <a:defRPr sz="2400"/>
            </a:lvl4pPr>
            <a:lvl5pPr marL="406400" indent="1524000" algn="ctr">
              <a:buClrTx/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228600" indent="4572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228600" indent="9144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228600" indent="13716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228600" indent="18288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Google Shape;36;p5"/>
          <p:cNvSpPr txBox="1">
            <a:spLocks noGrp="1"/>
          </p:cNvSpPr>
          <p:nvPr>
            <p:ph type="body" sz="half" idx="2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sz="2400" b="1"/>
            </a:lvl1pPr>
            <a:lvl2pPr marL="228600" indent="457200">
              <a:buClrTx/>
              <a:buSzTx/>
              <a:buFontTx/>
              <a:buNone/>
              <a:defRPr sz="2400" b="1"/>
            </a:lvl2pPr>
            <a:lvl3pPr marL="228600" indent="914400">
              <a:buClrTx/>
              <a:buSzTx/>
              <a:buFontTx/>
              <a:buNone/>
              <a:defRPr sz="2400" b="1"/>
            </a:lvl3pPr>
            <a:lvl4pPr marL="228600" indent="1371600">
              <a:buClrTx/>
              <a:buSzTx/>
              <a:buFontTx/>
              <a:buNone/>
              <a:defRPr sz="2400" b="1"/>
            </a:lvl4pPr>
            <a:lvl5pPr marL="228600" indent="1828800">
              <a:buClrTx/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Google Shape;43;p6"/>
          <p:cNvSpPr txBox="1">
            <a:spLocks noGrp="1"/>
          </p:cNvSpPr>
          <p:nvPr>
            <p:ph type="body" sz="half" idx="21"/>
          </p:nvPr>
        </p:nvSpPr>
        <p:spPr>
          <a:xfrm>
            <a:off x="839787" y="2505075"/>
            <a:ext cx="5157789" cy="3684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1" name="Google Shape;44;p6"/>
          <p:cNvSpPr txBox="1">
            <a:spLocks noGrp="1"/>
          </p:cNvSpPr>
          <p:nvPr>
            <p:ph type="body" sz="quarter" idx="2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2" name="Google Shape;45;p6"/>
          <p:cNvSpPr txBox="1">
            <a:spLocks noGrp="1"/>
          </p:cNvSpPr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 indent="-431800">
              <a:buSzPts val="3200"/>
              <a:defRPr sz="3200"/>
            </a:lvl1pPr>
            <a:lvl2pPr marL="972457" indent="-464457">
              <a:buSzPts val="3200"/>
              <a:defRPr sz="3200"/>
            </a:lvl2pPr>
            <a:lvl3pPr marL="1498600" indent="-508000">
              <a:buSzPts val="3200"/>
              <a:defRPr sz="3200"/>
            </a:lvl3pPr>
            <a:lvl4pPr marL="2042160" indent="-568960">
              <a:buSzPts val="3200"/>
              <a:defRPr sz="3200"/>
            </a:lvl4pPr>
            <a:lvl5pPr marL="2499360" indent="-568960">
              <a:buSzPts val="3200"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Google Shape;61;p9"/>
          <p:cNvSpPr txBox="1"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600"/>
            </a:pPr>
            <a:endParaRPr/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6" name="Google Shape;67;p10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600"/>
            </a:lvl1pPr>
            <a:lvl2pPr marL="228600" indent="457200">
              <a:buClrTx/>
              <a:buSzTx/>
              <a:buFontTx/>
              <a:buNone/>
              <a:defRPr sz="1600"/>
            </a:lvl2pPr>
            <a:lvl3pPr marL="228600" indent="914400">
              <a:buClrTx/>
              <a:buSzTx/>
              <a:buFontTx/>
              <a:buNone/>
              <a:defRPr sz="1600"/>
            </a:lvl3pPr>
            <a:lvl4pPr marL="228600" indent="1371600">
              <a:buClrTx/>
              <a:buSzTx/>
              <a:buFontTx/>
              <a:buNone/>
              <a:defRPr sz="1600"/>
            </a:lvl4pPr>
            <a:lvl5pPr marL="228600" indent="1828800">
              <a:buClrTx/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6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>
            <a:spLocks noGrp="1"/>
          </p:cNvSpPr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5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1550" marR="0" indent="-40005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508760" marR="0" indent="-48006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965960" marR="0" indent="-48006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23160" marR="0" indent="-48006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89;p13" descr="Google Shape;89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718" y="0"/>
            <a:ext cx="4502151" cy="1101725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Google Shape;90;p13"/>
          <p:cNvSpPr txBox="1"/>
          <p:nvPr/>
        </p:nvSpPr>
        <p:spPr>
          <a:xfrm>
            <a:off x="3825560" y="3274741"/>
            <a:ext cx="4540876" cy="444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sz="28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Team Members:</a:t>
            </a:r>
          </a:p>
        </p:txBody>
      </p:sp>
      <p:graphicFrame>
        <p:nvGraphicFramePr>
          <p:cNvPr id="117" name="Google Shape;91;p13"/>
          <p:cNvGraphicFramePr/>
          <p:nvPr>
            <p:extLst>
              <p:ext uri="{D42A27DB-BD31-4B8C-83A1-F6EECF244321}">
                <p14:modId xmlns:p14="http://schemas.microsoft.com/office/powerpoint/2010/main" val="416336041"/>
              </p:ext>
            </p:extLst>
          </p:nvPr>
        </p:nvGraphicFramePr>
        <p:xfrm>
          <a:off x="1753891" y="3985157"/>
          <a:ext cx="8836575" cy="185425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94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sym typeface="Arial"/>
                        </a:rPr>
                        <a:t>NAME</a:t>
                      </a:r>
                    </a:p>
                  </a:txBody>
                  <a:tcPr marL="45725" marR="45725" marT="45725" marB="45725" horzOverflow="overflow">
                    <a:lnL>
                      <a:solidFill>
                        <a:srgbClr val="EC792B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sym typeface="Arial"/>
                        </a:rPr>
                        <a:t>ROLL NO</a:t>
                      </a:r>
                    </a:p>
                  </a:txBody>
                  <a:tcPr marL="45725" marR="45725" marT="45725" marB="45725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sym typeface="Arial"/>
                        </a:rPr>
                        <a:t>USN</a:t>
                      </a:r>
                    </a:p>
                  </a:txBody>
                  <a:tcPr marL="45725" marR="45725" marT="45725" marB="45725" horzOverflow="overflow">
                    <a:lnR>
                      <a:solidFill>
                        <a:srgbClr val="EC792B"/>
                      </a:solidFill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dirty="0">
                          <a:sym typeface="Arial"/>
                        </a:rPr>
                        <a:t>Rakshita Kulk</a:t>
                      </a:r>
                      <a:r>
                        <a:rPr lang="en-IN" dirty="0">
                          <a:sym typeface="Arial"/>
                        </a:rPr>
                        <a:t>a</a:t>
                      </a:r>
                      <a:r>
                        <a:rPr dirty="0" err="1">
                          <a:sym typeface="Arial"/>
                        </a:rPr>
                        <a:t>rni</a:t>
                      </a:r>
                      <a:endParaRPr dirty="0">
                        <a:sym typeface="Arial"/>
                      </a:endParaRPr>
                    </a:p>
                  </a:txBody>
                  <a:tcPr marL="45725" marR="45725" marT="45725" marB="45725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sym typeface="Arial"/>
                        </a:rPr>
                        <a:t>422</a:t>
                      </a:r>
                    </a:p>
                  </a:txBody>
                  <a:tcPr marL="45725" marR="45725" marT="45725" marB="45725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sym typeface="Arial"/>
                        </a:rPr>
                        <a:t>01FE23BCS155</a:t>
                      </a:r>
                    </a:p>
                  </a:txBody>
                  <a:tcPr marL="45725" marR="45725" marT="45725" marB="45725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dirty="0">
                          <a:sym typeface="Arial"/>
                        </a:rPr>
                        <a:t>Sushant Tiwari</a:t>
                      </a:r>
                    </a:p>
                  </a:txBody>
                  <a:tcPr marL="45725" marR="45725" marT="45725" marB="45725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sym typeface="Arial"/>
                        </a:rPr>
                        <a:t>415</a:t>
                      </a:r>
                    </a:p>
                  </a:txBody>
                  <a:tcPr marL="45725" marR="45725" marT="45725" marB="45725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sym typeface="Arial"/>
                        </a:rPr>
                        <a:t>01FE23BCS086</a:t>
                      </a:r>
                    </a:p>
                  </a:txBody>
                  <a:tcPr marL="45725" marR="45725" marT="45725" marB="45725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sym typeface="Arial"/>
                        </a:rPr>
                        <a:t>Bhoomi Deshpande</a:t>
                      </a:r>
                    </a:p>
                  </a:txBody>
                  <a:tcPr marL="45725" marR="45725" marT="45725" marB="45725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sym typeface="Arial"/>
                        </a:rPr>
                        <a:t>420</a:t>
                      </a:r>
                    </a:p>
                  </a:txBody>
                  <a:tcPr marL="45725" marR="45725" marT="45725" marB="45725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sym typeface="Arial"/>
                        </a:rPr>
                        <a:t>01FE23BCS045</a:t>
                      </a:r>
                    </a:p>
                  </a:txBody>
                  <a:tcPr marL="45725" marR="45725" marT="45725" marB="45725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sym typeface="Arial"/>
                        </a:rPr>
                        <a:t>Pramod G</a:t>
                      </a:r>
                    </a:p>
                  </a:txBody>
                  <a:tcPr marL="45725" marR="45725" marT="45725" marB="45725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sym typeface="Arial"/>
                        </a:rPr>
                        <a:t>462</a:t>
                      </a:r>
                    </a:p>
                  </a:txBody>
                  <a:tcPr marL="45725" marR="45725" marT="45725" marB="45725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dirty="0">
                          <a:sym typeface="Arial"/>
                        </a:rPr>
                        <a:t>01FE23BCS056</a:t>
                      </a:r>
                    </a:p>
                  </a:txBody>
                  <a:tcPr marL="45725" marR="45725" marT="45725" marB="45725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8" name="Google Shape;92;p13"/>
          <p:cNvSpPr txBox="1"/>
          <p:nvPr/>
        </p:nvSpPr>
        <p:spPr>
          <a:xfrm>
            <a:off x="733426" y="1649645"/>
            <a:ext cx="10591800" cy="1077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699" tIns="45699" rIns="45699" bIns="45699">
            <a:spAutoFit/>
          </a:bodyPr>
          <a:lstStyle>
            <a:lvl1pPr>
              <a:defRPr sz="3200"/>
            </a:lvl1pPr>
          </a:lstStyle>
          <a:p>
            <a:r>
              <a:rPr lang="en-US" b="1" dirty="0"/>
              <a:t>Post-Discharge Care Plan Generator using Patient  Records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18;p16" descr="Google Shape;118;p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313" y="74613"/>
            <a:ext cx="2895601" cy="715963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Google Shape;119;p16"/>
          <p:cNvSpPr/>
          <p:nvPr/>
        </p:nvSpPr>
        <p:spPr>
          <a:xfrm>
            <a:off x="85724" y="884237"/>
            <a:ext cx="11993565" cy="20638"/>
          </a:xfrm>
          <a:prstGeom prst="line">
            <a:avLst/>
          </a:prstGeom>
          <a:ln>
            <a:solidFill>
              <a:srgbClr val="E4948A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2" name="Google Shape;120;p16"/>
          <p:cNvSpPr txBox="1">
            <a:spLocks noGrp="1"/>
          </p:cNvSpPr>
          <p:nvPr>
            <p:ph type="title"/>
          </p:nvPr>
        </p:nvSpPr>
        <p:spPr>
          <a:xfrm>
            <a:off x="192087" y="39684"/>
            <a:ext cx="10515601" cy="923932"/>
          </a:xfrm>
          <a:prstGeom prst="rect">
            <a:avLst/>
          </a:prstGeom>
        </p:spPr>
        <p:txBody>
          <a:bodyPr/>
          <a:lstStyle>
            <a:lvl1pPr>
              <a:defRPr b="1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Problem Statement</a:t>
            </a:r>
          </a:p>
        </p:txBody>
      </p:sp>
      <p:sp>
        <p:nvSpPr>
          <p:cNvPr id="123" name="Google Shape;121;p16"/>
          <p:cNvSpPr txBox="1"/>
          <p:nvPr/>
        </p:nvSpPr>
        <p:spPr>
          <a:xfrm>
            <a:off x="315707" y="1362873"/>
            <a:ext cx="10459920" cy="1764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 defTabSz="457200">
              <a:lnSpc>
                <a:spcPct val="150000"/>
              </a:lnSpc>
              <a:buSzPct val="100000"/>
              <a:defRPr sz="2000" baseline="5460">
                <a:solidFill>
                  <a:srgbClr val="000000">
                    <a:alpha val="84705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800" dirty="0"/>
              <a:t>Patients discharged from hospitals often receive generic discharge</a:t>
            </a:r>
            <a:r>
              <a:rPr lang="en-IN" sz="2800" dirty="0"/>
              <a:t> </a:t>
            </a:r>
            <a:r>
              <a:rPr sz="2800" dirty="0"/>
              <a:t>summaries that do not account for their specific comorbidities or lifestyle.</a:t>
            </a:r>
            <a:r>
              <a:rPr lang="en-IN" sz="2800" dirty="0"/>
              <a:t> </a:t>
            </a:r>
            <a:r>
              <a:rPr sz="2800" dirty="0"/>
              <a:t>Build a GenAI system that takes structured patient discharge data and</a:t>
            </a:r>
            <a:r>
              <a:rPr lang="en-IN" sz="2800" dirty="0"/>
              <a:t> </a:t>
            </a:r>
            <a:r>
              <a:rPr sz="2800" dirty="0"/>
              <a:t>generates a </a:t>
            </a:r>
            <a:r>
              <a:rPr sz="2800" dirty="0" err="1"/>
              <a:t>personalised</a:t>
            </a:r>
            <a:r>
              <a:rPr sz="2800" dirty="0"/>
              <a:t> post-discharge care plan with medication</a:t>
            </a:r>
            <a:r>
              <a:rPr lang="en-IN" sz="2800" dirty="0"/>
              <a:t> </a:t>
            </a:r>
            <a:r>
              <a:rPr sz="2800" dirty="0"/>
              <a:t>schedule, dietary guidelines, follow-up milestones, and red-flag warnings.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8;p17" descr="Google Shape;128;p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313" y="74613"/>
            <a:ext cx="2895601" cy="715963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Google Shape;129;p17"/>
          <p:cNvSpPr/>
          <p:nvPr/>
        </p:nvSpPr>
        <p:spPr>
          <a:xfrm>
            <a:off x="85724" y="884237"/>
            <a:ext cx="11993565" cy="20638"/>
          </a:xfrm>
          <a:prstGeom prst="line">
            <a:avLst/>
          </a:prstGeom>
          <a:ln>
            <a:solidFill>
              <a:srgbClr val="E4948A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" name="Google Shape;130;p17"/>
          <p:cNvSpPr txBox="1">
            <a:spLocks noGrp="1"/>
          </p:cNvSpPr>
          <p:nvPr>
            <p:ph type="title"/>
          </p:nvPr>
        </p:nvSpPr>
        <p:spPr>
          <a:xfrm>
            <a:off x="112712" y="74612"/>
            <a:ext cx="10515601" cy="923932"/>
          </a:xfrm>
          <a:prstGeom prst="rect">
            <a:avLst/>
          </a:prstGeom>
        </p:spPr>
        <p:txBody>
          <a:bodyPr/>
          <a:lstStyle/>
          <a:p>
            <a:pPr>
              <a:defRPr b="1">
                <a:latin typeface="+mj-lt"/>
                <a:ea typeface="+mj-ea"/>
                <a:cs typeface="+mj-cs"/>
                <a:sym typeface="Arial"/>
              </a:defRPr>
            </a:pPr>
            <a:r>
              <a:rPr lang="en-IN" dirty="0"/>
              <a:t>Objectives</a:t>
            </a:r>
            <a:endParaRPr sz="4000" dirty="0"/>
          </a:p>
        </p:txBody>
      </p:sp>
      <p:sp>
        <p:nvSpPr>
          <p:cNvPr id="128" name="Google Shape;132;p17"/>
          <p:cNvSpPr txBox="1"/>
          <p:nvPr/>
        </p:nvSpPr>
        <p:spPr>
          <a:xfrm>
            <a:off x="394412" y="1246081"/>
            <a:ext cx="10756782" cy="2677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 marL="457200" indent="-317500" defTabSz="457200">
              <a:buClr>
                <a:srgbClr val="000000">
                  <a:alpha val="84705"/>
                </a:srgbClr>
              </a:buClr>
              <a:buSzPct val="100000"/>
              <a:buFont typeface="Arial"/>
              <a:buChar char="•"/>
              <a:defRPr sz="2000" baseline="5460">
                <a:solidFill>
                  <a:srgbClr val="000000">
                    <a:alpha val="84705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800" dirty="0"/>
              <a:t>Structured patient data input form (diagnosis, medications,</a:t>
            </a:r>
            <a:br>
              <a:rPr sz="2800" dirty="0"/>
            </a:br>
            <a:r>
              <a:rPr sz="2800" dirty="0"/>
              <a:t>comorbidities)  </a:t>
            </a:r>
            <a:br>
              <a:rPr sz="2800" dirty="0"/>
            </a:br>
            <a:endParaRPr sz="2800" dirty="0">
              <a:solidFill>
                <a:srgbClr val="000000"/>
              </a:solidFill>
            </a:endParaRPr>
          </a:p>
          <a:p>
            <a:pPr marL="457200" indent="-317500" defTabSz="457200">
              <a:buClr>
                <a:srgbClr val="000000">
                  <a:alpha val="84705"/>
                </a:srgbClr>
              </a:buClr>
              <a:buSzPct val="100000"/>
              <a:buFont typeface="Arial"/>
              <a:buChar char="•"/>
              <a:defRPr sz="2000" baseline="5460">
                <a:solidFill>
                  <a:srgbClr val="000000">
                    <a:alpha val="84705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800" dirty="0" err="1"/>
              <a:t>Personalised</a:t>
            </a:r>
            <a:r>
              <a:rPr sz="2800" dirty="0"/>
              <a:t> care plan with 4 sections: meds, diet, follow-up, warnings  </a:t>
            </a:r>
            <a:br>
              <a:rPr sz="2800" dirty="0"/>
            </a:br>
            <a:endParaRPr sz="2800" dirty="0">
              <a:solidFill>
                <a:srgbClr val="000000"/>
              </a:solidFill>
            </a:endParaRPr>
          </a:p>
          <a:p>
            <a:pPr marL="457200" indent="-317500" defTabSz="457200">
              <a:buClr>
                <a:srgbClr val="000000">
                  <a:alpha val="84705"/>
                </a:srgbClr>
              </a:buClr>
              <a:buSzPct val="100000"/>
              <a:buFont typeface="Arial"/>
              <a:buChar char="•"/>
              <a:defRPr sz="2000" baseline="5460">
                <a:solidFill>
                  <a:srgbClr val="000000">
                    <a:alpha val="84705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800" dirty="0"/>
              <a:t>Output as printable DOCX/PDF, Validation on 3 different patient profiles</a:t>
            </a:r>
            <a:br>
              <a:rPr sz="2800" dirty="0"/>
            </a:br>
            <a:r>
              <a:rPr sz="2800" dirty="0"/>
              <a:t>(cardiac, diabetic, </a:t>
            </a:r>
            <a:r>
              <a:rPr sz="2800" dirty="0" err="1"/>
              <a:t>orthopaedic</a:t>
            </a:r>
            <a:r>
              <a:rPr sz="2800" dirty="0"/>
              <a:t>). Readability score (Flesch-Kincaid) of</a:t>
            </a:r>
            <a:br>
              <a:rPr sz="2800" dirty="0"/>
            </a:br>
            <a:r>
              <a:rPr sz="2800" dirty="0"/>
              <a:t>generated output </a:t>
            </a:r>
            <a:br>
              <a:rPr sz="2800" dirty="0"/>
            </a:br>
            <a:endParaRPr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18;p16" descr="Google Shape;118;p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313" y="74613"/>
            <a:ext cx="2895601" cy="715963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Google Shape;119;p16"/>
          <p:cNvSpPr/>
          <p:nvPr/>
        </p:nvSpPr>
        <p:spPr>
          <a:xfrm>
            <a:off x="85724" y="884237"/>
            <a:ext cx="11993565" cy="20638"/>
          </a:xfrm>
          <a:prstGeom prst="line">
            <a:avLst/>
          </a:prstGeom>
          <a:ln>
            <a:solidFill>
              <a:srgbClr val="E4948A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2" name="Google Shape;120;p16"/>
          <p:cNvSpPr txBox="1">
            <a:spLocks noGrp="1"/>
          </p:cNvSpPr>
          <p:nvPr>
            <p:ph type="title"/>
          </p:nvPr>
        </p:nvSpPr>
        <p:spPr>
          <a:xfrm>
            <a:off x="192087" y="39684"/>
            <a:ext cx="10515601" cy="923932"/>
          </a:xfrm>
          <a:prstGeom prst="rect">
            <a:avLst/>
          </a:prstGeom>
        </p:spPr>
        <p:txBody>
          <a:bodyPr/>
          <a:lstStyle>
            <a:lvl1pPr>
              <a:defRPr b="1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dirty="0"/>
              <a:t>Data set</a:t>
            </a:r>
            <a:r>
              <a:rPr lang="en-IN" dirty="0"/>
              <a:t> :NHANES</a:t>
            </a:r>
            <a:endParaRPr dirty="0"/>
          </a:p>
        </p:txBody>
      </p:sp>
      <p:graphicFrame>
        <p:nvGraphicFramePr>
          <p:cNvPr id="133" name="Table 1"/>
          <p:cNvGraphicFramePr/>
          <p:nvPr/>
        </p:nvGraphicFramePr>
        <p:xfrm>
          <a:off x="1342864" y="2681223"/>
          <a:ext cx="8853062" cy="251504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4426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6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008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400" baseline="1479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File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400" baseline="1479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Purpose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008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400" baseline="1479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DEMO_L.XPT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400" baseline="1479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Demographics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008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400" baseline="1479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DIQ_L.XPT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400" baseline="1479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Diabetes Indicators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008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400" baseline="1479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BPQ_L.XPT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400" baseline="1479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Blood Pressure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008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400" baseline="1479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RXQ_RX_L.XPT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2400" baseline="1479">
                          <a:latin typeface="+mn-lt"/>
                          <a:ea typeface="+mn-ea"/>
                          <a:cs typeface="+mn-cs"/>
                          <a:sym typeface="Helvetica"/>
                        </a:rPr>
                        <a:t>Medication Records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28;p17" descr="Google Shape;128;p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313" y="74613"/>
            <a:ext cx="2895601" cy="715963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Google Shape;129;p17"/>
          <p:cNvSpPr/>
          <p:nvPr/>
        </p:nvSpPr>
        <p:spPr>
          <a:xfrm>
            <a:off x="85724" y="884237"/>
            <a:ext cx="11993565" cy="20638"/>
          </a:xfrm>
          <a:prstGeom prst="line">
            <a:avLst/>
          </a:prstGeom>
          <a:ln>
            <a:solidFill>
              <a:srgbClr val="E4948A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7" name="Google Shape;130;p17"/>
          <p:cNvSpPr txBox="1">
            <a:spLocks noGrp="1"/>
          </p:cNvSpPr>
          <p:nvPr>
            <p:ph type="title"/>
          </p:nvPr>
        </p:nvSpPr>
        <p:spPr>
          <a:xfrm>
            <a:off x="112712" y="74612"/>
            <a:ext cx="10515601" cy="923932"/>
          </a:xfrm>
          <a:prstGeom prst="rect">
            <a:avLst/>
          </a:prstGeom>
        </p:spPr>
        <p:txBody>
          <a:bodyPr/>
          <a:lstStyle>
            <a:lvl1pPr>
              <a:defRPr b="1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t>Architecture Pipeline:</a:t>
            </a:r>
          </a:p>
        </p:txBody>
      </p:sp>
      <p:sp>
        <p:nvSpPr>
          <p:cNvPr id="138" name="Text"/>
          <p:cNvSpPr txBox="1"/>
          <p:nvPr/>
        </p:nvSpPr>
        <p:spPr>
          <a:xfrm>
            <a:off x="6024880" y="3294380"/>
            <a:ext cx="142240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 </a:t>
            </a:r>
          </a:p>
        </p:txBody>
      </p:sp>
      <p:pic>
        <p:nvPicPr>
          <p:cNvPr id="139" name="unknown.jpeg" descr="unknow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945" y="967883"/>
            <a:ext cx="8566681" cy="5667457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Text"/>
          <p:cNvSpPr txBox="1"/>
          <p:nvPr/>
        </p:nvSpPr>
        <p:spPr>
          <a:xfrm>
            <a:off x="-3131521" y="-2352183"/>
            <a:ext cx="1422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28;p17" descr="Google Shape;128;p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313" y="74613"/>
            <a:ext cx="2895601" cy="715963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Google Shape;129;p17"/>
          <p:cNvSpPr/>
          <p:nvPr/>
        </p:nvSpPr>
        <p:spPr>
          <a:xfrm>
            <a:off x="85724" y="884237"/>
            <a:ext cx="11993565" cy="20638"/>
          </a:xfrm>
          <a:prstGeom prst="line">
            <a:avLst/>
          </a:prstGeom>
          <a:ln>
            <a:solidFill>
              <a:srgbClr val="E4948A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4" name="Google Shape;130;p17"/>
          <p:cNvSpPr txBox="1">
            <a:spLocks noGrp="1"/>
          </p:cNvSpPr>
          <p:nvPr>
            <p:ph type="title"/>
          </p:nvPr>
        </p:nvSpPr>
        <p:spPr>
          <a:xfrm>
            <a:off x="112712" y="74612"/>
            <a:ext cx="10515601" cy="923932"/>
          </a:xfrm>
          <a:prstGeom prst="rect">
            <a:avLst/>
          </a:prstGeom>
        </p:spPr>
        <p:txBody>
          <a:bodyPr/>
          <a:lstStyle>
            <a:lvl1pPr>
              <a:defRPr b="1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r>
              <a:rPr dirty="0"/>
              <a:t>Architecture</a:t>
            </a:r>
            <a:r>
              <a:rPr lang="en-IN" dirty="0"/>
              <a:t> Flow</a:t>
            </a:r>
            <a:endParaRPr dirty="0"/>
          </a:p>
        </p:txBody>
      </p:sp>
      <p:sp>
        <p:nvSpPr>
          <p:cNvPr id="145" name="Rectangle 1"/>
          <p:cNvSpPr txBox="1"/>
          <p:nvPr/>
        </p:nvSpPr>
        <p:spPr>
          <a:xfrm>
            <a:off x="131444" y="1184683"/>
            <a:ext cx="11822750" cy="5930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SzPct val="100000"/>
              <a:buFont typeface="Arial"/>
              <a:buChar char="•"/>
              <a:defRPr sz="2000"/>
            </a:pPr>
            <a:r>
              <a:t>Aggregator Transformation</a:t>
            </a: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SzPct val="100000"/>
              <a:buFont typeface="Arial"/>
              <a:buChar char="•"/>
              <a:defRPr sz="2000"/>
            </a:pPr>
            <a:r>
              <a:t>Sorter Transformation</a:t>
            </a:r>
          </a:p>
        </p:txBody>
      </p:sp>
      <p:pic>
        <p:nvPicPr>
          <p:cNvPr id="146" name="unknown.jpeg" descr="unknow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4" y="1184683"/>
            <a:ext cx="7549269" cy="53515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208;p25"/>
          <p:cNvSpPr txBox="1"/>
          <p:nvPr/>
        </p:nvSpPr>
        <p:spPr>
          <a:xfrm>
            <a:off x="4084324" y="6414780"/>
            <a:ext cx="4023352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School of Computer Science and Engineering</a:t>
            </a:r>
          </a:p>
        </p:txBody>
      </p:sp>
      <p:sp>
        <p:nvSpPr>
          <p:cNvPr id="149" name="Google Shape;209;p25"/>
          <p:cNvSpPr txBox="1">
            <a:spLocks noGrp="1"/>
          </p:cNvSpPr>
          <p:nvPr>
            <p:ph type="sldNum" sz="quarter" idx="2"/>
          </p:nvPr>
        </p:nvSpPr>
        <p:spPr>
          <a:xfrm>
            <a:off x="11172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pic>
        <p:nvPicPr>
          <p:cNvPr id="150" name="Google Shape;210;p25" descr="Google Shape;210;p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313" y="74613"/>
            <a:ext cx="2895601" cy="715963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Google Shape;211;p25"/>
          <p:cNvSpPr/>
          <p:nvPr/>
        </p:nvSpPr>
        <p:spPr>
          <a:xfrm>
            <a:off x="85724" y="884237"/>
            <a:ext cx="11993565" cy="20638"/>
          </a:xfrm>
          <a:prstGeom prst="line">
            <a:avLst/>
          </a:prstGeom>
          <a:ln>
            <a:solidFill>
              <a:srgbClr val="E4948A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2" name="Google Shape;212;p25"/>
          <p:cNvSpPr txBox="1">
            <a:spLocks noGrp="1"/>
          </p:cNvSpPr>
          <p:nvPr>
            <p:ph type="title"/>
          </p:nvPr>
        </p:nvSpPr>
        <p:spPr>
          <a:xfrm>
            <a:off x="760412" y="2711450"/>
            <a:ext cx="10515601" cy="1325563"/>
          </a:xfrm>
          <a:prstGeom prst="rect">
            <a:avLst/>
          </a:prstGeom>
        </p:spPr>
        <p:txBody>
          <a:bodyPr/>
          <a:lstStyle>
            <a:lvl1pPr algn="ctr">
              <a:defRPr sz="6600" b="1"/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201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Problem Statement</vt:lpstr>
      <vt:lpstr>Objectives</vt:lpstr>
      <vt:lpstr>Data set :NHANES</vt:lpstr>
      <vt:lpstr>Architecture Pipeline:</vt:lpstr>
      <vt:lpstr>Architecture Flow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Rakshita Kulkarni</cp:lastModifiedBy>
  <cp:revision>1</cp:revision>
  <dcterms:modified xsi:type="dcterms:W3CDTF">2026-05-31T05:08:23Z</dcterms:modified>
</cp:coreProperties>
</file>